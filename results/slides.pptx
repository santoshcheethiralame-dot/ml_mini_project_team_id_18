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problem in one sentence: can we predict from launch-time info alone whether a Kickstarter campaign will hit its goal?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Binary classification. Key constraint: only information known at launch. That makes the model useful BEFORE a creator spends effort, and avoids leakage from backers/pledged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Web Robots monthly scrapes. They are cumulative, so we keep the latest row per project id, keep only successful/failed, and dedupe on (name, blurb, launch, deadline) like the paper. Majority-class baseline is 70.7%, so accuracy must be read against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families. The target encodings and NB probability use labels, so they are out-of-fold. Goal means per level do not use labels so they are fitted on all training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point to emphasise in Q&amp;A. If a row's encoding is computed with its own label, the model can memorise it and accuracy is inflated. Out-of-fold: split train into 5 folds; encode each fold using the other 4. Test rows use encoders fitted on the whole train set. There is a unit test for this in tests/.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model families as the paper. Linear probability models (OLS/ridge/lasso) regress y and threshold at 0.5. Differences from the paper: VADER instead of CoreNLP (no Java server), LSA instead of 3.6GB pretrained Word2Vec, sklearn ReLU MLP instead of SELU Keras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to the majority baseline (70.7%) and to the paper (83%). Class 1 is 'successful'. Check whether precision on failed projects (P0) is the weak spot, as in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Adding the NB feature lifts every model. Top models are close, so features matter more than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precise, not vague. Beyond metadata + NB: sentiment -0.03 points, LDA +0.53, LSA +0.56. Sentiment adds nothing measurable on a one-line blurb; the topic and embedding blocks each add about half a point - so do not say the text features add nothing. The defensible claim: the blurb supports one well-regularised text feature (the NB probability) and the extra blocks refine it slightly. Boxplots are across random seeds of the boosting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Confusion matrix is for gradient boosting. nb_prob, target encodings and goal-relative features dominate the gain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streamlit run app.py. Change the goal and watch the probability; open the contributions chart to show which features drive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limitations: only launch-time metadata and a one-line blurb; no story, images, creator history. A temporal split is a stricter test. Next step: transformer sentence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Predicting Kickstarter
Project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BEDCCD"/>
                </a:solidFill>
                <a:latin typeface="Calibri"/>
              </a:rPr>
              <a:t>Launch-time features, leakage-safe encodings,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UE24CS352A Machine Learning Mini-Project  |  Team #18  |  Problem #56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Cheethirala Sai Santosh (PES1UG24CS127), Chhavi Siddarth Wadhwa (PES1UG24CS132)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65"/>
                </a:solidFill>
                <a:latin typeface="Calibri"/>
              </a:rPr>
              <a:t>Replicating and extending Khosla, Reinecke &amp; Wittenbrink (Stanford)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64008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26"/>
                </a:solidFill>
                <a:latin typeface="Calibri"/>
              </a:rPr>
              <a:t>•  Input: what a creator knows at launch (goal, category, country, currency, location, dates, name, one-line blurb)</a:t>
            </a:r>
          </a:p>
          <a:p>
            <a:pPr algn="l">
              <a:spcBef>
                <a:spcPts val="900"/>
              </a:spcBef>
            </a:pPr>
            <a:r>
              <a:rPr sz="2000" b="0">
                <a:solidFill>
                  <a:srgbClr val="1F2A26"/>
                </a:solidFill>
                <a:latin typeface="Calibri"/>
              </a:rPr>
              <a:t>•  Output: will the campaign reach its funding goal? (binary)</a:t>
            </a:r>
          </a:p>
          <a:p>
            <a:pPr algn="l">
              <a:spcBef>
                <a:spcPts val="900"/>
              </a:spcBef>
            </a:pPr>
            <a:r>
              <a:rPr sz="2000" b="0">
                <a:solidFill>
                  <a:srgbClr val="1F2A26"/>
                </a:solidFill>
                <a:latin typeface="Calibri"/>
              </a:rPr>
              <a:t>•  Why it matters: creators can tune goal and framing; the platform can prioritise promising projects</a:t>
            </a:r>
          </a:p>
          <a:p>
            <a:pPr algn="l">
              <a:spcBef>
                <a:spcPts val="900"/>
              </a:spcBef>
            </a:pPr>
            <a:r>
              <a:rPr sz="2000" b="0">
                <a:solidFill>
                  <a:srgbClr val="1F2A26"/>
                </a:solidFill>
                <a:latin typeface="Calibri"/>
              </a:rPr>
              <a:t>•  Paper's best result: about 83%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920240"/>
            <a:ext cx="3931920" cy="265176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3D2E"/>
                </a:solidFill>
                <a:latin typeface="Calibri"/>
              </a:rPr>
              <a:t>Excluded on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743200"/>
            <a:ext cx="34747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26"/>
                </a:solidFill>
                <a:latin typeface="Calibri"/>
              </a:rPr>
              <a:t>backers count</a:t>
            </a:r>
          </a:p>
          <a:p>
            <a:pPr algn="l">
              <a:spcBef>
                <a:spcPts val="765"/>
              </a:spcBef>
            </a:pPr>
            <a:r>
              <a:rPr sz="1700" b="0">
                <a:solidFill>
                  <a:srgbClr val="1F2A26"/>
                </a:solidFill>
                <a:latin typeface="Calibri"/>
              </a:rPr>
              <a:t>amount pledged so far</a:t>
            </a:r>
          </a:p>
          <a:p>
            <a:pPr algn="l">
              <a:spcBef>
                <a:spcPts val="765"/>
              </a:spcBef>
            </a:pPr>
            <a:r>
              <a:rPr sz="1700" b="0">
                <a:solidFill>
                  <a:srgbClr val="1F2A26"/>
                </a:solidFill>
                <a:latin typeface="Calibri"/>
              </a:rPr>
              <a:t>staff pick / spotlight</a:t>
            </a:r>
          </a:p>
          <a:p>
            <a:pPr algn="l">
              <a:spcBef>
                <a:spcPts val="765"/>
              </a:spcBef>
            </a:pPr>
            <a:r>
              <a:rPr sz="1700" b="0">
                <a:solidFill>
                  <a:srgbClr val="1F2A26"/>
                </a:solidFill>
                <a:latin typeface="Calibri"/>
              </a:rPr>
              <a:t>anything after launch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65"/>
                </a:solidFill>
                <a:latin typeface="Calibri"/>
              </a:rPr>
              <a:t>Web Robots Kickstarter scrape, finished campaigns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01952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5A862"/>
                </a:solidFill>
                <a:latin typeface="Calibri"/>
              </a:rPr>
              <a:t>47,765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514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65"/>
                </a:solidFill>
                <a:latin typeface="Calibri"/>
              </a:rPr>
              <a:t>projects after cleaning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901952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5A862"/>
                </a:solidFill>
                <a:latin typeface="Calibri"/>
              </a:rPr>
              <a:t>70.9%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514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65"/>
                </a:solidFill>
                <a:latin typeface="Calibri"/>
              </a:rPr>
              <a:t>succeeded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2651760" cy="123444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01952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5A862"/>
                </a:solidFill>
                <a:latin typeface="Calibri"/>
              </a:rPr>
              <a:t>33,435 / 14,330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65"/>
                </a:solidFill>
                <a:latin typeface="Calibri"/>
              </a:rPr>
              <a:t>train / test (random 70-30)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737360"/>
            <a:ext cx="2377440" cy="123444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901952"/>
            <a:ext cx="2011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5A862"/>
                </a:solidFill>
                <a:latin typeface="Calibri"/>
              </a:rPr>
              <a:t>70.7%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514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65"/>
                </a:solidFill>
                <a:latin typeface="Calibri"/>
              </a:rPr>
              <a:t>majority-class accuracy</a:t>
            </a:r>
          </a:p>
        </p:txBody>
      </p:sp>
      <p:pic>
        <p:nvPicPr>
          <p:cNvPr id="16" name="Picture 15" descr="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24612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65"/>
                </a:solidFill>
                <a:latin typeface="Calibri"/>
              </a:rPr>
              <a:t>Most of the performance comes from the first two groups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3108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26"/>
                </a:solidFill>
                <a:latin typeface="Calibri"/>
              </a:rPr>
              <a:t>•  log goal (USD)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campaign length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launch month / weekday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name &amp; blurb length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one-hot parent category &amp; category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Out-of-fold target encodings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51760"/>
            <a:ext cx="3108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26"/>
                </a:solidFill>
                <a:latin typeface="Calibri"/>
              </a:rPr>
              <a:t>•  currency, country, category, parent, location, location type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mean goal per level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goal relative to level mean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737360"/>
            <a:ext cx="3566160" cy="356616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920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Text (blurb)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651760"/>
            <a:ext cx="3108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26"/>
                </a:solidFill>
                <a:latin typeface="Calibri"/>
              </a:rPr>
              <a:t>•  TF-IDF → Naive Bayes probability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VADER sentiment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20-topic LDA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50-d LSA embedding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Avoiding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Target encodings and the Naive-Bayes probability depend on the label.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On the training set they are computed out-of-fold (5 folds): each row is encoded using only the other folds.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Test and demo rows use encoders fitted on the full training set.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Duplicates removed before splitting, so no project appears in both train and test.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Unit tests check the encoding guard and that no post-launch columns are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Models and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6692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1F2A26"/>
                </a:solidFill>
                <a:latin typeface="Calibri"/>
              </a:rPr>
              <a:t>•  Gradient boosting (LightGBM)</a:t>
            </a:r>
          </a:p>
          <a:p>
            <a:pPr algn="l">
              <a:spcBef>
                <a:spcPts val="900"/>
              </a:spcBef>
            </a:pPr>
            <a:r>
              <a:rPr sz="2000" b="0">
                <a:solidFill>
                  <a:srgbClr val="1F2A26"/>
                </a:solidFill>
                <a:latin typeface="Calibri"/>
              </a:rPr>
              <a:t>•  Random forest</a:t>
            </a:r>
          </a:p>
          <a:p>
            <a:pPr algn="l">
              <a:spcBef>
                <a:spcPts val="900"/>
              </a:spcBef>
            </a:pPr>
            <a:r>
              <a:rPr sz="2000" b="0">
                <a:solidFill>
                  <a:srgbClr val="1F2A26"/>
                </a:solidFill>
                <a:latin typeface="Calibri"/>
              </a:rPr>
              <a:t>•  Neural net (1 hidden layer, 25 units)</a:t>
            </a:r>
          </a:p>
          <a:p>
            <a:pPr algn="l">
              <a:spcBef>
                <a:spcPts val="900"/>
              </a:spcBef>
            </a:pPr>
            <a:r>
              <a:rPr sz="2000" b="0">
                <a:solidFill>
                  <a:srgbClr val="1F2A26"/>
                </a:solidFill>
                <a:latin typeface="Calibri"/>
              </a:rPr>
              <a:t>•  Linear SVM, logistic regression</a:t>
            </a:r>
          </a:p>
          <a:p>
            <a:pPr algn="l">
              <a:spcBef>
                <a:spcPts val="900"/>
              </a:spcBef>
            </a:pPr>
            <a:r>
              <a:rPr sz="2000" b="0">
                <a:solidFill>
                  <a:srgbClr val="1F2A26"/>
                </a:solidFill>
                <a:latin typeface="Calibri"/>
              </a:rPr>
              <a:t>•  Ridge / OLS / lasso linear probability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554480"/>
            <a:ext cx="4846320" cy="301752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377440"/>
            <a:ext cx="43891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26"/>
                </a:solidFill>
                <a:latin typeface="Calibri"/>
              </a:rPr>
              <a:t>•  Balanced sample weights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Fit on train only; test touched once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Accuracy, F1, per-class P/R, ROC-AUC</a:t>
            </a:r>
          </a:p>
          <a:p>
            <a:pPr algn="l">
              <a:spcBef>
                <a:spcPts val="720"/>
              </a:spcBef>
            </a:pPr>
            <a:r>
              <a:rPr sz="1600" b="0">
                <a:solidFill>
                  <a:srgbClr val="1F2A26"/>
                </a:solidFill>
                <a:latin typeface="Calibri"/>
              </a:rPr>
              <a:t>•  Text ablation over 5 seeds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Results: metadata + Naive Bayes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65"/>
                </a:solidFill>
                <a:latin typeface="Calibri"/>
              </a:rPr>
              <a:t>Test set, 14,330 projects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75895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R0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0B3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26"/>
                          </a:solidFill>
                          <a:latin typeface="Calibri"/>
                        </a:rPr>
                        <a:t>G.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26"/>
                          </a:solidFill>
                          <a:latin typeface="Calibri"/>
                        </a:rPr>
                        <a:t>0.816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26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26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26"/>
                          </a:solidFill>
                          <a:latin typeface="Calibri"/>
                        </a:rPr>
                        <a:t>0.669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26"/>
                          </a:solidFill>
                          <a:latin typeface="Calibri"/>
                        </a:rPr>
                        <a:t>0.848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26"/>
                          </a:solidFill>
                          <a:latin typeface="Calibri"/>
                        </a:rPr>
                        <a:t>0.740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A26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Logistic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0.797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0.847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0.618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0.802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0.879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R.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SVM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0.796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0.846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0.616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0.793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0.802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0.878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Neural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0.614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0.843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0.611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0.877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Lasso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0.843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0.906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0.788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0.802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26"/>
                          </a:solidFill>
                          <a:latin typeface="Calibri"/>
                        </a:rPr>
                        <a:t>0.877</a:t>
                      </a:r>
                    </a:p>
                  </a:txBody>
                  <a:tcPr>
                    <a:solidFill>
                      <a:srgbClr val="F2F8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737360"/>
            <a:ext cx="3017520" cy="3108960"/>
          </a:xfrm>
          <a:prstGeom prst="roundRect">
            <a:avLst>
              <a:gd name="adj" fmla="val 6000"/>
            </a:avLst>
          </a:prstGeom>
          <a:solidFill>
            <a:srgbClr val="F2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23960" y="19659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B3D2E"/>
                </a:solidFill>
                <a:latin typeface="Calibri"/>
              </a:rPr>
              <a:t>G. Boosting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2560320"/>
            <a:ext cx="2560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2A26"/>
                </a:solidFill>
                <a:latin typeface="Calibri"/>
              </a:rPr>
              <a:t>81.6% accuracy</a:t>
            </a:r>
          </a:p>
          <a:p>
            <a:pPr algn="l">
              <a:spcBef>
                <a:spcPts val="810"/>
              </a:spcBef>
            </a:pPr>
            <a:r>
              <a:rPr sz="1800" b="0">
                <a:solidFill>
                  <a:srgbClr val="1F2A26"/>
                </a:solidFill>
                <a:latin typeface="Calibri"/>
              </a:rPr>
              <a:t>F1 0.867</a:t>
            </a:r>
          </a:p>
          <a:p>
            <a:pPr algn="l">
              <a:spcBef>
                <a:spcPts val="810"/>
              </a:spcBef>
            </a:pPr>
            <a:r>
              <a:rPr sz="1800" b="0">
                <a:solidFill>
                  <a:srgbClr val="1F2A26"/>
                </a:solidFill>
                <a:latin typeface="Calibri"/>
              </a:rPr>
              <a:t>+10.9 pts vs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Features matter more than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65"/>
                </a:solidFill>
                <a:latin typeface="Calibri"/>
              </a:rPr>
              <a:t>NB feature: 80.9% → 81.8% accuracy (+0.8 pts, LightGBM)</a:t>
            </a:r>
          </a:p>
        </p:txBody>
      </p:sp>
      <p:pic>
        <p:nvPicPr>
          <p:cNvPr id="4" name="Picture 3" descr="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37360"/>
            <a:ext cx="8961120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Do extra text features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65"/>
                </a:solidFill>
                <a:latin typeface="Calibri"/>
              </a:rPr>
              <a:t>Gain over Metadata + NB (accuracy points): Sentiment -0.03, LDA +0.53, LSA +0.56</a:t>
            </a:r>
          </a:p>
        </p:txBody>
      </p:sp>
      <p:pic>
        <p:nvPicPr>
          <p:cNvPr id="4" name="Picture 3" descr="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8503920" cy="43734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Error analysis and feature importance</a:t>
            </a:r>
          </a:p>
        </p:txBody>
      </p:sp>
      <p:pic>
        <p:nvPicPr>
          <p:cNvPr id="3" name="Picture 2" descr="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4572000" cy="3918857"/>
          </a:xfrm>
          <a:prstGeom prst="rect">
            <a:avLst/>
          </a:prstGeom>
        </p:spPr>
      </p:pic>
      <p:pic>
        <p:nvPicPr>
          <p:cNvPr id="4" name="Picture 3" descr="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554480"/>
            <a:ext cx="6035040" cy="42245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65"/>
                </a:solidFill>
                <a:latin typeface="Calibri"/>
              </a:rPr>
              <a:t>1,539 successes predicted as failures; 1,091 failures predicted as successes.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B3D2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E6B65"/>
                </a:solidFill>
                <a:latin typeface="Calibri"/>
              </a:rPr>
              <a:t>streamlit run 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F2A26"/>
                </a:solidFill>
                <a:latin typeface="Calibri"/>
              </a:rPr>
              <a:t>•  Enter name, blurb, category, country, goal and dates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1F2A26"/>
                </a:solidFill>
                <a:latin typeface="Calibri"/>
              </a:rPr>
              <a:t>•  Get a success probability from the trained gradient-boosting model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1F2A26"/>
                </a:solidFill>
                <a:latin typeface="Calibri"/>
              </a:rPr>
              <a:t>•  What-if curve: how the prediction changes as the goal changes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1F2A26"/>
                </a:solidFill>
                <a:latin typeface="Calibri"/>
              </a:rPr>
              <a:t>•  Per-prediction feature contributions (TreeSHAP) for explainability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G. Boosting is best: 81.6% accuracy, F1 0.867 (paper: about 83%).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Out-of-fold Naive-Bayes blurb probability is the main text feature (+0.84 pts); sentiment adds -0.03 pts, LDA +0.53 and LSA +0.56.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Leakage-safe encodings and de-duplication keep the estimate honest.</a:t>
            </a:r>
          </a:p>
          <a:p>
            <a:pPr algn="l">
              <a:spcBef>
                <a:spcPts val="990"/>
              </a:spcBef>
            </a:pPr>
            <a:r>
              <a:rPr sz="2200" b="0">
                <a:solidFill>
                  <a:srgbClr val="FFFFFF"/>
                </a:solidFill>
                <a:latin typeface="Calibri"/>
              </a:rPr>
              <a:t>Future work: temporal validation, transformer embeddings, project story and image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